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연간 수수료(백만 VND)</c:v>
                </c:pt>
              </c:strCache>
            </c:strRef>
          </c:tx>
          <c:spPr>
            <a:solidFill>
              <a:srgbClr val="1383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1년차</c:v>
                  </c:pt>
                  <c:pt idx="1">
                    <c:v>2년차</c:v>
                  </c:pt>
                  <c:pt idx="2">
                    <c:v>3년차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600</c:v>
                </c:pt>
                <c:pt idx="1">
                  <c:v>2160</c:v>
                </c:pt>
                <c:pt idx="2">
                  <c:v>6480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389120" cy="4389120"/>
          </a:xfrm>
          <a:prstGeom prst="ellipse">
            <a:avLst/>
          </a:prstGeom>
          <a:solidFill>
            <a:srgbClr val="12545B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365760"/>
            <a:ext cx="1280160" cy="1280160"/>
          </a:xfrm>
          <a:prstGeom prst="ellipse">
            <a:avLst/>
          </a:prstGeom>
          <a:solidFill>
            <a:srgbClr val="1383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Stay</a:t>
            </a:r>
            <a:pPr indent="0" marL="0">
              <a:buNone/>
            </a:pPr>
            <a:r>
              <a:rPr lang="en-US" sz="6000" b="1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Easy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호텔 멤버십 혜택, 더 쉽게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C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· 비교 · 보관 · 예약을 한 곳에서. 멤버십 중개로 수익을 만드는 모바일 우선 플랫폼.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사업계획서 (Business Plan)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2926080" cy="0"/>
          </a:xfrm>
          <a:prstGeom prst="line">
            <a:avLst/>
          </a:prstGeom>
          <a:noFill/>
          <a:ln w="25400">
            <a:solidFill>
              <a:srgbClr val="1EA4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6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2026-06-07   ·   github.com/bstars00-rgb/StayEasy   ·   bstars00-rgb.github.io/StayEasy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ellipse">
            <a:avLst/>
          </a:prstGeom>
          <a:solidFill>
            <a:srgbClr val="1383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80467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고객은 멤버십 혜택을 잘 못 쓴다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82296" cy="1965960"/>
          </a:xfrm>
          <a:prstGeom prst="rect">
            <a:avLst/>
          </a:prstGeom>
          <a:solidFill>
            <a:srgbClr val="13838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브랜드마다 앱이 따로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메리어트·아코르·힐튼… 혜택과 바우처가 여러 앱에 흩어져 한눈에 안 보인다.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8288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828800"/>
            <a:ext cx="82296" cy="1965960"/>
          </a:xfrm>
          <a:prstGeom prst="rect">
            <a:avLst/>
          </a:prstGeom>
          <a:solidFill>
            <a:srgbClr val="13838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예약은 전화·이메일로만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6060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바우처가 있어도 앱에서 바로 예약이 안 돼, 매번 전화·메일로 따로 요청해야 한다.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160520"/>
            <a:ext cx="82296" cy="1965960"/>
          </a:xfrm>
          <a:prstGeom prst="rect">
            <a:avLst/>
          </a:prstGeom>
          <a:solidFill>
            <a:srgbClr val="13838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4348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만료를 놓친다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49377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유효기간·잔여 수량을 추적하기 어려워 쓰지 못하고 소멸되는 혜택이 많다.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4160520"/>
            <a:ext cx="82296" cy="1965960"/>
          </a:xfrm>
          <a:prstGeom prst="rect">
            <a:avLst/>
          </a:prstGeom>
          <a:solidFill>
            <a:srgbClr val="13838A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4348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추가요금 혼선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75120" y="49377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석식인데 와인은 별도 등 조건이 제각각이라 사용 시 혼란이 크다.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StayEasy · 사업계획서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ellipse">
            <a:avLst/>
          </a:prstGeom>
          <a:solidFill>
            <a:srgbClr val="1383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80467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멤버십을 하나로, 예약까지 대행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587752" cy="27432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22476" y="2423160"/>
            <a:ext cx="822960" cy="822960"/>
          </a:xfrm>
          <a:prstGeom prst="ellipse">
            <a:avLst/>
          </a:prstGeom>
          <a:solidFill>
            <a:srgbClr val="13838A"/>
          </a:solidFill>
          <a:ln/>
        </p:spPr>
      </p:sp>
      <p:sp>
        <p:nvSpPr>
          <p:cNvPr id="8" name="Text 6"/>
          <p:cNvSpPr/>
          <p:nvPr/>
        </p:nvSpPr>
        <p:spPr>
          <a:xfrm>
            <a:off x="1522476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886200"/>
            <a:ext cx="21305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브랜드 멤버십을 한 앱에서 발견·비교·관리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92424" y="2011680"/>
            <a:ext cx="2587752" cy="27432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4820" y="2423160"/>
            <a:ext cx="822960" cy="822960"/>
          </a:xfrm>
          <a:prstGeom prst="ellipse">
            <a:avLst/>
          </a:prstGeom>
          <a:solidFill>
            <a:srgbClr val="3FC1C2"/>
          </a:solidFill>
          <a:ln/>
        </p:spPr>
      </p:sp>
      <p:sp>
        <p:nvSpPr>
          <p:cNvPr id="13" name="Text 11"/>
          <p:cNvSpPr/>
          <p:nvPr/>
        </p:nvSpPr>
        <p:spPr>
          <a:xfrm>
            <a:off x="4274820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75304" y="342900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바우처 지갑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21024" y="3886200"/>
            <a:ext cx="21305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혜택을 카테고리별로 보관 — 잔여·유효기간 추적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44768" y="2011680"/>
            <a:ext cx="2587752" cy="27432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27164" y="2423160"/>
            <a:ext cx="822960" cy="822960"/>
          </a:xfrm>
          <a:prstGeom prst="ellipse">
            <a:avLst/>
          </a:prstGeom>
          <a:solidFill>
            <a:srgbClr val="13838A"/>
          </a:solidFill>
          <a:ln/>
        </p:spPr>
      </p:sp>
      <p:sp>
        <p:nvSpPr>
          <p:cNvPr id="18" name="Text 16"/>
          <p:cNvSpPr/>
          <p:nvPr/>
        </p:nvSpPr>
        <p:spPr>
          <a:xfrm>
            <a:off x="7027164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27648" y="342900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대행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73368" y="3886200"/>
            <a:ext cx="21305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앱에서 요청하면 StayEasy가 호텔과 예약을 조율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97112" y="2011680"/>
            <a:ext cx="2587752" cy="27432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779508" y="2423160"/>
            <a:ext cx="822960" cy="822960"/>
          </a:xfrm>
          <a:prstGeom prst="ellipse">
            <a:avLst/>
          </a:prstGeom>
          <a:solidFill>
            <a:srgbClr val="3FC1C2"/>
          </a:solidFill>
          <a:ln/>
        </p:spPr>
      </p:sp>
      <p:sp>
        <p:nvSpPr>
          <p:cNvPr id="23" name="Text 21"/>
          <p:cNvSpPr/>
          <p:nvPr/>
        </p:nvSpPr>
        <p:spPr>
          <a:xfrm>
            <a:off x="9779508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079992" y="342900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알림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25712" y="3886200"/>
            <a:ext cx="21305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임박·진행 중 예약을 자동으로 알려줌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“브랜드 앱은 '무엇을 가졌는지'만 보여준다. StayEasy는 그것을 '쓰게' 만든다.”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StayEasy · 사업계획서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ellipse">
            <a:avLst/>
          </a:prstGeom>
          <a:solidFill>
            <a:srgbClr val="1383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80467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84832"/>
            <a:ext cx="310896" cy="310896"/>
          </a:xfrm>
          <a:prstGeom prst="ellipse">
            <a:avLst/>
          </a:prstGeom>
          <a:solidFill>
            <a:srgbClr val="1EA4A8"/>
          </a:solidFill>
          <a:ln/>
        </p:spPr>
      </p:sp>
      <p:sp>
        <p:nvSpPr>
          <p:cNvPr id="8" name="Text 6"/>
          <p:cNvSpPr/>
          <p:nvPr/>
        </p:nvSpPr>
        <p:spPr>
          <a:xfrm>
            <a:off x="1298448" y="202996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 기반 탐색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2542032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도시·혜택유형으로 멤버십 발견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92424" y="18288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1024" y="2084832"/>
            <a:ext cx="310896" cy="310896"/>
          </a:xfrm>
          <a:prstGeom prst="ellipse">
            <a:avLst/>
          </a:prstGeom>
          <a:solidFill>
            <a:srgbClr val="1EA4A8"/>
          </a:solidFill>
          <a:ln/>
        </p:spPr>
      </p:sp>
      <p:sp>
        <p:nvSpPr>
          <p:cNvPr id="12" name="Text 10"/>
          <p:cNvSpPr/>
          <p:nvPr/>
        </p:nvSpPr>
        <p:spPr>
          <a:xfrm>
            <a:off x="4050792" y="202996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 비교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21024" y="2542032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3개 나란히 비교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18288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73368" y="2084832"/>
            <a:ext cx="310896" cy="310896"/>
          </a:xfrm>
          <a:prstGeom prst="ellipse">
            <a:avLst/>
          </a:prstGeom>
          <a:solidFill>
            <a:srgbClr val="1EA4A8"/>
          </a:solidFill>
          <a:ln/>
        </p:spPr>
      </p:sp>
      <p:sp>
        <p:nvSpPr>
          <p:cNvPr id="16" name="Text 14"/>
          <p:cNvSpPr/>
          <p:nvPr/>
        </p:nvSpPr>
        <p:spPr>
          <a:xfrm>
            <a:off x="6803136" y="202996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바우처 지갑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73368" y="2542032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잔여·유효기간 관리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97112" y="18288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25712" y="2084832"/>
            <a:ext cx="310896" cy="310896"/>
          </a:xfrm>
          <a:prstGeom prst="ellipse">
            <a:avLst/>
          </a:prstGeom>
          <a:solidFill>
            <a:srgbClr val="1EA4A8"/>
          </a:solidFill>
          <a:ln/>
        </p:spPr>
      </p:sp>
      <p:sp>
        <p:nvSpPr>
          <p:cNvPr id="20" name="Text 18"/>
          <p:cNvSpPr/>
          <p:nvPr/>
        </p:nvSpPr>
        <p:spPr>
          <a:xfrm>
            <a:off x="9555480" y="202996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요청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25712" y="2542032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성인/소아·나이까지 입력해 요청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61188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3867912"/>
            <a:ext cx="310896" cy="310896"/>
          </a:xfrm>
          <a:prstGeom prst="ellipse">
            <a:avLst/>
          </a:prstGeom>
          <a:solidFill>
            <a:srgbClr val="1EA4A8"/>
          </a:solidFill>
          <a:ln/>
        </p:spPr>
      </p:sp>
      <p:sp>
        <p:nvSpPr>
          <p:cNvPr id="24" name="Text 22"/>
          <p:cNvSpPr/>
          <p:nvPr/>
        </p:nvSpPr>
        <p:spPr>
          <a:xfrm>
            <a:off x="1298448" y="38130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+ 수수료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68680" y="4325112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결제 연계, 수수료 정산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92424" y="361188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21024" y="3867912"/>
            <a:ext cx="310896" cy="310896"/>
          </a:xfrm>
          <a:prstGeom prst="ellipse">
            <a:avLst/>
          </a:prstGeom>
          <a:solidFill>
            <a:srgbClr val="1EA4A8"/>
          </a:solidFill>
          <a:ln/>
        </p:spPr>
      </p:sp>
      <p:sp>
        <p:nvSpPr>
          <p:cNvPr id="28" name="Text 26"/>
          <p:cNvSpPr/>
          <p:nvPr/>
        </p:nvSpPr>
        <p:spPr>
          <a:xfrm>
            <a:off x="4050792" y="38130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퀴즈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621024" y="4325112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5문항으로 맞춤 추천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44768" y="361188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73368" y="3867912"/>
            <a:ext cx="310896" cy="310896"/>
          </a:xfrm>
          <a:prstGeom prst="ellipse">
            <a:avLst/>
          </a:prstGeom>
          <a:solidFill>
            <a:srgbClr val="1EA4A8"/>
          </a:solidFill>
          <a:ln/>
        </p:spPr>
      </p:sp>
      <p:sp>
        <p:nvSpPr>
          <p:cNvPr id="32" name="Text 30"/>
          <p:cNvSpPr/>
          <p:nvPr/>
        </p:nvSpPr>
        <p:spPr>
          <a:xfrm>
            <a:off x="6803136" y="38130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간편 로그인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373368" y="4325112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한 번으로 가입(게스트 허용)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97112" y="361188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25712" y="3867912"/>
            <a:ext cx="310896" cy="310896"/>
          </a:xfrm>
          <a:prstGeom prst="ellipse">
            <a:avLst/>
          </a:prstGeom>
          <a:solidFill>
            <a:srgbClr val="1EA4A8"/>
          </a:solidFill>
          <a:ln/>
        </p:spPr>
      </p:sp>
      <p:sp>
        <p:nvSpPr>
          <p:cNvPr id="36" name="Text 34"/>
          <p:cNvSpPr/>
          <p:nvPr/>
        </p:nvSpPr>
        <p:spPr>
          <a:xfrm>
            <a:off x="9555480" y="381304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언어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125712" y="4325112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한·영·베트남·중·일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StayEasy · 사업계획서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ellipse">
            <a:avLst/>
          </a:prstGeom>
          <a:solidFill>
            <a:srgbClr val="1383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80467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방식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도시·혜택으로 탐색하고 비교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27248" y="320040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520440" y="228600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94760" y="2880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94760" y="35204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신청 → 브랜드 인보이스 → 결제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07608" y="320040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0" y="228600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880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지갑 지급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35204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바우처가 디지털 지갑에 등록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887968" y="320040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281160" y="228600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5548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55480" y="2880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예약·사용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555480" y="35204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앱에서 예약 요청 → 사용 시 잔여 차감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StayEasy · 사업계획서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ellipse">
            <a:avLst/>
          </a:prstGeom>
          <a:solidFill>
            <a:srgbClr val="1383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80467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시장: 베트남에서 시작, 아시아로 확장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10312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286000" y="21762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도시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286000" y="2587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호치민 · 다낭 · 하노이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52044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286000" y="35935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도시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286000" y="40050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서울 · 방콕 · 도쿄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93776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2286000" y="501091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멤버십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286000" y="54223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메리어트·아코르·힐튼 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92024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0B3B40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2194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베트남인가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26974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관광·비즈니스 수요 급성장, 국제 호텔 브랜드 집중 진출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멤버십·다이닝 클럽 판매가 활발하나 관리·예약 경험은 분절적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한국·일본·중화권 인바운드 다수 → 다국어 앱 적합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영업과 연계한 중개 수수료 모델 실현 용이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3504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도시/멤버십 수는 MVP 기준, 확장 계획 포함.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StayEasy · 사업계획서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ellipse">
            <a:avLst/>
          </a:prstGeom>
          <a:solidFill>
            <a:srgbClr val="1383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80467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모델: 멤버십 중개 수수료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90956" y="201168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0956" y="23042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0956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 구매 신청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17036" y="2423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631436" y="201168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13838A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1436" y="23042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StayEasy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1436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F4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구매·예약 중개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557516" y="2423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471916" y="201168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71916" y="23042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호텔 브랜드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71916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인보이스 발행·결제 수취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호텔 브랜드가 수취 · StayEasy는 결제액의 일정 %를 수수료로 수취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계산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8006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결제액 ₫4,200,000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수수료율 12%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건당 수수료 ₫504,000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42062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48006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중개 수수료 (현재)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대행·프리미엄 (확장)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광고·제휴 (확장)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StayEasy · 사업계획서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ellipse">
            <a:avLst/>
          </a:prstGeom>
          <a:solidFill>
            <a:srgbClr val="1383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80467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시뮬레이션 (예시 가정)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828800"/>
            <a:ext cx="3931920" cy="4206240"/>
          </a:xfrm>
          <a:prstGeom prst="roundRect">
            <a:avLst>
              <a:gd name="adj" fmla="val 1860"/>
            </a:avLst>
          </a:prstGeom>
          <a:solidFill>
            <a:srgbClr val="0B3B40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가정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09560" y="260604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5E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결제 회원 1년차 1,000명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5E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결제액 ₫5,000,000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5E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수수료율 12%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5E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수 연 +3.6배 가정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5E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대행 등 부가수익 제외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61081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본 수치는 설명용 예시 가정이며 실제 실적·전망이 아님.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StayEasy · 사업계획서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ellipse">
            <a:avLst/>
          </a:prstGeom>
          <a:solidFill>
            <a:srgbClr val="1383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STAYEASY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80467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83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자체 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83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OTA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83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StayEasy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532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멀티브랜드 통합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A8A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A8A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83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532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바우처 잔여·만료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83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A8A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83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532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인앱 예약 대행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A8A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A8A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83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532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만료·예약 알림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A8A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A8A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83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532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다국어(5개)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A8A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83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83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532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중개 수수료 BM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A8A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83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383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StayEasy · 사업계획서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ellipse">
            <a:avLst/>
          </a:prstGeom>
          <a:solidFill>
            <a:srgbClr val="1383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80467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현황: 작동하는 MVP 완성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65960"/>
            <a:ext cx="2587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92424" y="18288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92424" y="1965960"/>
            <a:ext cx="2587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92424" y="278892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바우처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44768" y="18288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44768" y="1965960"/>
            <a:ext cx="2587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44768" y="278892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97112" y="18288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97112" y="1965960"/>
            <a:ext cx="2587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897112" y="278892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테스트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10972800" cy="2194560"/>
          </a:xfrm>
          <a:prstGeom prst="roundRect">
            <a:avLst>
              <a:gd name="adj" fmla="val 3333"/>
            </a:avLst>
          </a:prstGeom>
          <a:solidFill>
            <a:srgbClr val="0B3B40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3886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구현된 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29768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5E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발견·비교·상세·바우처 지갑·예약 요청(성인/소아·나이)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5E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플로우 + 수수료 정산 + 바우처 상세 설명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5E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간편 로그인(하이브리드) + 게스트 게이팅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5E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 29 + E2E 4 통과, CI 게이트, GitHub Pages 자동 배포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StayEasy · 사업계획서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ellipse">
            <a:avLst/>
          </a:prstGeom>
          <a:solidFill>
            <a:srgbClr val="1383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016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80467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10972800" cy="0"/>
          </a:xfrm>
          <a:prstGeom prst="line">
            <a:avLst/>
          </a:prstGeom>
          <a:noFill/>
          <a:ln w="25400">
            <a:solidFill>
              <a:srgbClr val="3FC1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19656" y="2596896"/>
            <a:ext cx="292608" cy="292608"/>
          </a:xfrm>
          <a:prstGeom prst="ellipse">
            <a:avLst/>
          </a:prstGeom>
          <a:solidFill>
            <a:srgbClr val="13838A"/>
          </a:solidFill>
          <a:ln w="25400">
            <a:solidFill>
              <a:srgbClr val="1383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2004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전체 기능·테스트·배포 완료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90288" y="259689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83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0712" y="32004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10712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93592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백엔드·결제 연동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39312" y="42519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주문/정산 API, 실 OAuth 검증, 브랜드 연동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60920" y="259689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83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32004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81344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64224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양도·계정·파트너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9944" y="42519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바우처 선물, 계정별 데이터, 파트너 대시보드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131552" y="259689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83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51976" y="320040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3B4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51976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383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34856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확장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80576" y="42519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6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도시·브랜드 확대, 부가 수익원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StayEasy · 사업계획서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8A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840480" cy="3840480"/>
          </a:xfrm>
          <a:prstGeom prst="ellipse">
            <a:avLst/>
          </a:prstGeom>
          <a:solidFill>
            <a:srgbClr val="12545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만들 파트너를 찾습니다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호텔 브랜드 제휴 · 파일럿 운영 · 초기 투자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5236" y="338328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2545B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제휴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3836" y="4160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 판매·정산 연동 파트너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2836" y="338328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2545B"/>
          </a:solidFill>
          <a:ln/>
        </p:spPr>
      </p:sp>
      <p:sp>
        <p:nvSpPr>
          <p:cNvPr id="9" name="Text 7"/>
          <p:cNvSpPr/>
          <p:nvPr/>
        </p:nvSpPr>
        <p:spPr>
          <a:xfrm>
            <a:off x="4402836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31436" y="4160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호치민/다낭/하노이 현장 검증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60436" y="338328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2545B"/>
          </a:solidFill>
          <a:ln/>
        </p:spPr>
      </p:sp>
      <p:sp>
        <p:nvSpPr>
          <p:cNvPr id="12" name="Text 10"/>
          <p:cNvSpPr/>
          <p:nvPr/>
        </p:nvSpPr>
        <p:spPr>
          <a:xfrm>
            <a:off x="8060436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89036" y="4160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백엔드·운영·마케팅 가속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 </a:t>
            </a:r>
            <a:pPr algn="ctr" indent="0" marL="0">
              <a:buNone/>
            </a:pPr>
            <a:r>
              <a:rPr lang="en-US" sz="1300" dirty="0">
                <a:solidFill>
                  <a:srgbClr val="CF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bstars00-rgb.github.io/StayEasy</a:t>
            </a:r>
            <a:pPr algn="ctr" indent="0" marL="0">
              <a:buNone/>
            </a:pPr>
            <a:r>
              <a:rPr lang="en-US" sz="1300" b="1" dirty="0">
                <a:solidFill>
                  <a:srgbClr val="3FC1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Code  </a:t>
            </a:r>
            <a:pPr algn="ctr" indent="0" marL="0">
              <a:buNone/>
            </a:pPr>
            <a:r>
              <a:rPr lang="en-US" sz="1300" dirty="0">
                <a:solidFill>
                  <a:srgbClr val="CFE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github.com/bstars00-rgb/StayEasy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StayEasy 사업계획서</dc:title>
  <dc:subject>PptxGenJS Presentation</dc:subject>
  <dc:creator>StayEasy</dc:creator>
  <cp:lastModifiedBy>StayEasy</cp:lastModifiedBy>
  <cp:revision>1</cp:revision>
  <dcterms:created xsi:type="dcterms:W3CDTF">2026-06-07T02:24:08Z</dcterms:created>
  <dcterms:modified xsi:type="dcterms:W3CDTF">2026-06-07T02:24:08Z</dcterms:modified>
</cp:coreProperties>
</file>